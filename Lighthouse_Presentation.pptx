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32704" y="36576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Segoe UI"/>
              </a:defRPr>
            </a:pPr>
            <a:r>
              <a:t>SOFTWARE DEVELOPMENT WITH JAVA (SESSIONAL) — CSE-202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362895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Segoe UI"/>
              </a:defRPr>
            </a:pPr>
            <a:r>
              <a:t>Project Lighthouse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0D9488"/>
                </a:solidFill>
                <a:latin typeface="Segoe UI"/>
              </a:defRPr>
            </a:pPr>
            <a:r>
              <a:t>Wellbeing and Self-Reflection Web Platform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291840"/>
            <a:ext cx="9997135" cy="29260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474720"/>
            <a:ext cx="94484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50" b="1">
                <a:solidFill>
                  <a:srgbClr val="2563EB"/>
                </a:solidFill>
                <a:latin typeface="Segoe UI"/>
              </a:defRPr>
            </a:pPr>
            <a:r>
              <a:t>Course: </a:t>
            </a:r>
            <a:r>
              <a:rPr b="0">
                <a:solidFill>
                  <a:srgbClr val="0F172A"/>
                </a:solidFill>
              </a:rPr>
              <a:t>Software Development with JAVA (Sessional) (CSE-202)</a:t>
            </a:r>
          </a:p>
          <a:p>
            <a:pPr>
              <a:spcAft>
                <a:spcPts val="1200"/>
              </a:spcAft>
              <a:defRPr sz="1350" b="1">
                <a:solidFill>
                  <a:srgbClr val="2563EB"/>
                </a:solidFill>
                <a:latin typeface="Segoe UI"/>
              </a:defRPr>
            </a:pPr>
            <a:r>
              <a:t>Department: </a:t>
            </a:r>
            <a:r>
              <a:rPr b="0">
                <a:solidFill>
                  <a:srgbClr val="0F172A"/>
                </a:solidFill>
              </a:rPr>
              <a:t>Department of Computer Science &amp; Engineering, CUET</a:t>
            </a:r>
          </a:p>
          <a:p>
            <a:pPr>
              <a:spcAft>
                <a:spcPts val="1200"/>
              </a:spcAft>
              <a:defRPr sz="1350" b="1">
                <a:solidFill>
                  <a:srgbClr val="2563EB"/>
                </a:solidFill>
                <a:latin typeface="Segoe UI"/>
              </a:defRPr>
            </a:pPr>
            <a:r>
              <a:t>Development Team: </a:t>
            </a:r>
            <a:r>
              <a:rPr b="0">
                <a:solidFill>
                  <a:srgbClr val="0F172A"/>
                </a:solidFill>
              </a:rPr>
              <a:t>Muhammad Zarif Rahman (2304039)  |  Md. Al-Saiban (2304041)  |  Md. Irfan (2304066)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Why Does Mental Wellbeing Go Untracked?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No Structured Habit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People want to reflect daily but have no guided framework to do it consistently.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4592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Fear of Privacy Invasion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Most organizational wellness tools are rejected out of fear reflections are read by managers.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No Longitudinal Insight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Standalone mood apps capture a single moment but never correlate sleep, stress, and activity over time.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931920"/>
            <a:ext cx="51206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11480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2563EB"/>
                </a:solidFill>
                <a:latin typeface="Segoe UI"/>
              </a:defRPr>
            </a:pPr>
            <a:r>
              <a:t>No Gentle Intervention</a:t>
            </a:r>
          </a:p>
          <a:p>
            <a:pPr>
              <a:defRPr sz="1200">
                <a:solidFill>
                  <a:srgbClr val="475569"/>
                </a:solidFill>
                <a:latin typeface="Segoe UI"/>
              </a:defRPr>
            </a:pPr>
            <a:r>
              <a:t>Admins or counsellors have no visibility into who may need a gentle check-in until it's too late.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What is Lighthouse?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●  Core Mission: A guided daily wellbeing platform pairing a 13-step reflection journey with strict user privacy.</a:t>
            </a:r>
          </a:p>
          <a:p>
            <a:pPr>
              <a:spcAft>
                <a:spcPts val="16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●  Privacy Moat: Built on Supabase Row Level Security (RLS). Journal entries are cryptographically scoped to the user.</a:t>
            </a:r>
          </a:p>
          <a:p>
            <a:pPr>
              <a:spcAft>
                <a:spcPts val="16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●  Longitudinal Analytics: Interactive Chart.js visualisations reveal hidden sleep-mood-energy correlations over time.</a:t>
            </a:r>
          </a:p>
          <a:p>
            <a:pPr>
              <a:spcAft>
                <a:spcPts val="16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●  Proactive Admin Care: Heuristic flagging + soft nudges allow admins to reach out compassionately without invading privacy.</a:t>
            </a:r>
          </a:p>
        </p:txBody>
      </p:sp>
      <p:pic>
        <p:nvPicPr>
          <p:cNvPr id="7" name="Picture 6" descr="section3_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71600"/>
            <a:ext cx="6949440" cy="3630811"/>
          </a:xfrm>
          <a:prstGeom prst="rect">
            <a:avLst/>
          </a:prstGeom>
          <a:ln w="12700">
            <a:solidFill>
              <a:srgbClr val="BFDBFE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663440" y="5038987"/>
            <a:ext cx="6949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75569"/>
                </a:solidFill>
                <a:latin typeface="Segoe UI"/>
              </a:defRPr>
            </a:pPr>
            <a:r>
              <a:t>Lighthouse Wellbeing Platform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Segoe UI"/>
              </a:defRPr>
            </a:pPr>
            <a:r>
              <a:t>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Landing Page &amp; User Sign-Up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ction3_1_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4754880" cy="2539960"/>
          </a:xfrm>
          <a:prstGeom prst="rect">
            <a:avLst/>
          </a:prstGeom>
          <a:ln w="12700">
            <a:solidFill>
              <a:srgbClr val="BFDBFE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914400" y="45720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Marketing + Auth Page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Single page hosting Login, Sign Up, and Admin tabs. New visitors see product pitch; returning users access auth.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ection3_1_sign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554480"/>
            <a:ext cx="4754880" cy="2926080"/>
          </a:xfrm>
          <a:prstGeom prst="rect">
            <a:avLst/>
          </a:prstGeom>
          <a:ln w="12700">
            <a:solidFill>
              <a:srgbClr val="BFDBF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492240" y="45720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Extended Sign-Up Profile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Collects extended profile fields - display name, avatar, occupation, interests, DOB - powering personalized AI context.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Segoe UI"/>
              </a:defRPr>
            </a:pPr>
            <a:r>
              <a:t>CORE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The Daily Journey — 13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●  Sequential Flow: Users progress through a 13-step structured sequence each day.</a:t>
            </a:r>
          </a:p>
          <a:p>
            <a:pPr>
              <a:spcAft>
                <a:spcPts val="16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●  Varied Micro-Activities: Check-ins, coping scenario assessments, cognitive visual challenges, and freeform journal writing.</a:t>
            </a:r>
          </a:p>
          <a:p>
            <a:pPr>
              <a:spcAft>
                <a:spcPts val="16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●  Progress Tracking: Clear step indicator ('Step X of 13') keeps daily reflection lightweight and engaging.</a:t>
            </a:r>
          </a:p>
        </p:txBody>
      </p:sp>
      <p:pic>
        <p:nvPicPr>
          <p:cNvPr id="7" name="Picture 6" descr="section3_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71600"/>
            <a:ext cx="6949440" cy="3630811"/>
          </a:xfrm>
          <a:prstGeom prst="rect">
            <a:avLst/>
          </a:prstGeom>
          <a:ln w="12700">
            <a:solidFill>
              <a:srgbClr val="BFDBFE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663440" y="5038987"/>
            <a:ext cx="6949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75569"/>
                </a:solidFill>
                <a:latin typeface="Segoe UI"/>
              </a:defRPr>
            </a:pPr>
            <a:r>
              <a:t>Daily Journey &amp; Progress Tracker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Segoe UI"/>
              </a:defRPr>
            </a:pPr>
            <a:r>
              <a:t>GUIDED JOURNEY — STEPS 1 &amp; 3, 5, 7, 9,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Daily Check-in &amp; Scenario Assessment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ction3_3_check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4754880" cy="2926080"/>
          </a:xfrm>
          <a:prstGeom prst="rect">
            <a:avLst/>
          </a:prstGeom>
          <a:ln w="12700">
            <a:solidFill>
              <a:srgbClr val="BFDBFE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914400" y="45720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Step 1 — Daily Check-in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Users log sleep hours, mood (1-5), energy, productivity, and physical activity via smooth sliders in under 60 seconds.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ection3_5_scen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554480"/>
            <a:ext cx="4754880" cy="2926080"/>
          </a:xfrm>
          <a:prstGeom prst="rect">
            <a:avLst/>
          </a:prstGeom>
          <a:ln w="12700">
            <a:solidFill>
              <a:srgbClr val="BFDBF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492240" y="45720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Steps 3, 5, 7, 9, 11 — Scenario Assessment (x5)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Five scenario rounds present situational stories from an 80+ item bank to probe coping patterns without clinical labels.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Segoe UI"/>
              </a:defRPr>
            </a:pPr>
            <a:r>
              <a:t>GUIDED JOURNEY — STEPS 6 &amp;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Visual Reflection &amp; Private Journal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79" y="146304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●  Step 6 — Visual Reflection: Interactive color/shape choices capturing non-verbal emotional state.</a:t>
            </a:r>
          </a:p>
          <a:p>
            <a:pPr>
              <a:spcAft>
                <a:spcPts val="16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●  Step 13 — Reflection Journal: Distraction-free writing canvas with guided prompt cards ('What made you smile today?').</a:t>
            </a:r>
          </a:p>
          <a:p>
            <a:pPr>
              <a:spcAft>
                <a:spcPts val="16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●  RLS Protection: Journal entries are encrypted in Postgres and unreadable by platform administrators.</a:t>
            </a:r>
          </a:p>
        </p:txBody>
      </p:sp>
      <p:pic>
        <p:nvPicPr>
          <p:cNvPr id="7" name="Picture 6" descr="section3_4_jour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949440" cy="4297680"/>
          </a:xfrm>
          <a:prstGeom prst="rect">
            <a:avLst/>
          </a:prstGeom>
          <a:ln w="12700">
            <a:solidFill>
              <a:srgbClr val="BFDBFE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31520" y="5705856"/>
            <a:ext cx="6949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75569"/>
                </a:solidFill>
                <a:latin typeface="Segoe UI"/>
              </a:defRPr>
            </a:pPr>
            <a:r>
              <a:t>Reflection Journal — serene, prompt-guided writing canvas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Segoe UI"/>
              </a:defRPr>
            </a:pPr>
            <a:r>
              <a:t>PERSONAL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Insights &amp; PDF Reports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ction3_11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4754880" cy="2906792"/>
          </a:xfrm>
          <a:prstGeom prst="rect">
            <a:avLst/>
          </a:prstGeom>
          <a:ln w="12700">
            <a:solidFill>
              <a:srgbClr val="BFDBFE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914400" y="45720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Insights Page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Behavioural pattern dashboard powered by Chart.js. Correlates sleep, mood, energy, and productivity across weeks.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ection3_6_feedb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554480"/>
            <a:ext cx="4754880" cy="2874288"/>
          </a:xfrm>
          <a:prstGeom prst="rect">
            <a:avLst/>
          </a:prstGeom>
          <a:ln w="12700">
            <a:solidFill>
              <a:srgbClr val="BFDBF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492240" y="45720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Weekly / Monthly Reports + PDF Export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Summarises journey activity into weekly/monthly snapshots. One-click jsPDF export compiles charts for personal records or therapy.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Segoe UI"/>
              </a:defRPr>
            </a:pPr>
            <a:r>
              <a:t>AI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AI Companion — Lighthouse Chat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●  Context-Aware AI: Powered by Groq (Llama-3.3-70B) via an Express.js backend proxy.</a:t>
            </a:r>
          </a:p>
          <a:p>
            <a:pPr>
              <a:spcAft>
                <a:spcPts val="16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●  Personal Data Grounding: Reads the user's real check-in averages and mood trends to give grounded, empathetic guidance.</a:t>
            </a:r>
          </a:p>
          <a:p>
            <a:pPr>
              <a:spcAft>
                <a:spcPts val="1600"/>
              </a:spcAft>
              <a:defRPr sz="1400">
                <a:solidFill>
                  <a:srgbClr val="0F172A"/>
                </a:solidFill>
                <a:latin typeface="Segoe UI"/>
              </a:defRPr>
            </a:pPr>
            <a:r>
              <a:t>●  Privacy Guardrails: Never receives raw journal text; receives only aggregated numerical metrics.</a:t>
            </a:r>
          </a:p>
        </p:txBody>
      </p:sp>
      <p:pic>
        <p:nvPicPr>
          <p:cNvPr id="7" name="Picture 6" descr="section3_10_compan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71600"/>
            <a:ext cx="6949440" cy="4297680"/>
          </a:xfrm>
          <a:prstGeom prst="rect">
            <a:avLst/>
          </a:prstGeom>
          <a:ln w="12700">
            <a:solidFill>
              <a:srgbClr val="BFDBFE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663440" y="5705856"/>
            <a:ext cx="6949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475569"/>
                </a:solidFill>
                <a:latin typeface="Segoe UI"/>
              </a:defRPr>
            </a:pPr>
            <a:r>
              <a:t>Lighthouse AI Companion — empathetic, grounded wellness guidance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Segoe UI"/>
              </a:defRPr>
            </a:pPr>
            <a:r>
              <a:t>ADMIN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Platform Monitoring &amp; Care Panel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ction3_12_admin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4754880" cy="2832497"/>
          </a:xfrm>
          <a:prstGeom prst="rect">
            <a:avLst/>
          </a:prstGeom>
          <a:ln w="12700">
            <a:solidFill>
              <a:srgbClr val="BFDBFE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914400" y="45720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Admin Dashboard &amp; Analytics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Bird's-eye view of platform health: total users, daily activity, growth charts, flagged counts, and PDF report packs.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ection3_14_care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554480"/>
            <a:ext cx="4754880" cy="2577108"/>
          </a:xfrm>
          <a:prstGeom prst="rect">
            <a:avLst/>
          </a:prstGeom>
          <a:ln w="12700">
            <a:solidFill>
              <a:srgbClr val="BFDBF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492240" y="45720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Care Panel — Watchlist &amp; Nudges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Flagged users appear here via heuristics (low mood streaks, inactivity). Admins review signals, add notes, or send soft nudges.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Segoe UI"/>
              </a:defRPr>
            </a:pPr>
            <a:r>
              <a:t>ADMIN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User Directory &amp; Scenario Management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ction3_13_user_dir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554480"/>
            <a:ext cx="4754880" cy="2502813"/>
          </a:xfrm>
          <a:prstGeom prst="rect">
            <a:avLst/>
          </a:prstGeom>
          <a:ln w="12700">
            <a:solidFill>
              <a:srgbClr val="BFDBFE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914400" y="45720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User Directory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Admins browse all registered users, view engagement status, and surface accounts needing care with zero journal access.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ection3_15_scenar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554480"/>
            <a:ext cx="4754880" cy="2926080"/>
          </a:xfrm>
          <a:prstGeom prst="rect">
            <a:avLst/>
          </a:prstGeom>
          <a:ln w="12700">
            <a:solidFill>
              <a:srgbClr val="BFDBF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492240" y="4572000"/>
            <a:ext cx="4754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Scenario Bank Management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Admins create, edit, enable, or disable scenario items. Ships with 80+ seed scenarios customizable to institutional context.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Segoe UI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  <a:latin typeface="Segoe UI"/>
              </a:defRPr>
            </a:pPr>
            <a:r>
              <a:t>FRONTEND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Vanilla HTML / CSS / JS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Static multi-page app — intentionally no framework. Fast, zero-build, deployable anywhere.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46304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459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  <a:latin typeface="Segoe UI"/>
              </a:defRPr>
            </a:pPr>
            <a:r>
              <a:t>DATABASE &amp; AUTH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Supabase (Postgres + RLS)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Row Level Security enforces privacy boundaries at the DB layer — users only see their own rows.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46304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64592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  <a:latin typeface="Segoe UI"/>
              </a:defRPr>
            </a:pPr>
            <a:r>
              <a:t>AI BACKEND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Groq · Llama-3.3-70B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Express.js proxy server holds the Groq API key server-side, feeding live data snapshots per request.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14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  <a:latin typeface="Segoe UI"/>
              </a:defRPr>
            </a:pPr>
            <a:r>
              <a:t>DATA VISUALISATION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Chart.js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Renders all mood, sleep, energy, productivity, and behavioural trend charts on dashboard &amp; insights.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93192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4114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  <a:latin typeface="Segoe UI"/>
              </a:defRPr>
            </a:pPr>
            <a:r>
              <a:t>PDF EXPORT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jsPDF (client-side)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Generates personal wellness reports and admin PDF packs entirely in the browser.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3931920"/>
            <a:ext cx="33832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411480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950" b="1">
                <a:solidFill>
                  <a:srgbClr val="2563EB"/>
                </a:solidFill>
                <a:latin typeface="Segoe UI"/>
              </a:defRPr>
            </a:pPr>
            <a:r>
              <a:t>HOSTING</a:t>
            </a:r>
          </a:p>
          <a:p>
            <a:pPr>
              <a:spcAft>
                <a:spcPts val="4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Vercel (Static Deploy)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Deployed via vercel.json. Zero-build static deployment with environment configuration via config.js.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4864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F172A"/>
                </a:solidFill>
                <a:latin typeface="Segoe UI"/>
              </a:defRPr>
            </a:pPr>
            <a:r>
              <a:t>What Lighthouse Delivers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4572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Guided Daily Habit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A 13-step journey building consistent self-reflection — check-ins, scenarios, activities, visual, journal.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3063240"/>
            <a:ext cx="5120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3200400"/>
            <a:ext cx="4572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Bulletproof Privacy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Supabase RLS means journal entries are cryptographically scoped to the user. Admins see signals, never diaries.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5120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800600"/>
            <a:ext cx="4572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Personal Insights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Longitudinal charts surface mood-sleep-energy correlations that single-point wellness checks miss.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63040"/>
            <a:ext cx="5120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600200"/>
            <a:ext cx="4572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Compassionate Admin Care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Heuristic flagging + soft nudges let admins reach out proactively — as a care tool, not surveillance.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063240"/>
            <a:ext cx="5120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200400"/>
            <a:ext cx="4572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AI Companion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Context-aware Groq-powered assistant grounded in real user data — no hallucinated scores or generic advice.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4663440"/>
            <a:ext cx="5120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800600"/>
            <a:ext cx="4572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 b="1">
                <a:solidFill>
                  <a:srgbClr val="2563EB"/>
                </a:solidFill>
                <a:latin typeface="Segoe UI"/>
              </a:defRPr>
            </a:pPr>
            <a:r>
              <a:t>Future Roadmap</a:t>
            </a:r>
          </a:p>
          <a:p>
            <a:pPr>
              <a:defRPr sz="1100">
                <a:solidFill>
                  <a:srgbClr val="475569"/>
                </a:solidFill>
                <a:latin typeface="Segoe UI"/>
              </a:defRPr>
            </a:pPr>
            <a:r>
              <a:t>Component framework migration, mobile app, and predictive anomaly detection for admin care signals.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32704" y="1097280"/>
            <a:ext cx="914400" cy="914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F172A"/>
                </a:solidFill>
                <a:latin typeface="Segoe UI"/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i="1">
                <a:solidFill>
                  <a:srgbClr val="475569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023360"/>
            <a:ext cx="7619695" cy="18288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4206240"/>
            <a:ext cx="72539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2563EB"/>
                </a:solidFill>
                <a:latin typeface="Segoe UI"/>
              </a:defRPr>
            </a:pPr>
            <a:r>
              <a:t>PROJECT LIGHTHOUSE</a:t>
            </a:r>
          </a:p>
          <a:p>
            <a:pPr algn="ctr">
              <a:spcAft>
                <a:spcPts val="400"/>
              </a:spcAft>
              <a:defRPr sz="1400" b="1">
                <a:solidFill>
                  <a:srgbClr val="0F172A"/>
                </a:solidFill>
                <a:latin typeface="Segoe UI"/>
              </a:defRPr>
            </a:pPr>
            <a:r>
              <a:t>Muhammad Zarif Rahman  ·  Md. Al-Saiban  ·  Md. Irfan</a:t>
            </a:r>
          </a:p>
          <a:p>
            <a:pPr algn="ctr">
              <a:defRPr sz="1200">
                <a:solidFill>
                  <a:srgbClr val="475569"/>
                </a:solidFill>
                <a:latin typeface="Segoe UI"/>
              </a:defRPr>
            </a:pPr>
            <a:r>
              <a:t>Software Development with JAVA (Sessional) (CSE-202)  ·  CUET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